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185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948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6051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035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5636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7493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680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0889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393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980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915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86872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1753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3299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2558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6483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41380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481A142-DA77-4A5F-AD1F-14E6C18F0F5F}" type="datetime1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484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765A16-9633-4F4A-B53F-F4DC963CC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868964"/>
            <a:ext cx="5598097" cy="281962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800" dirty="0"/>
              <a:t>Лабораторная работа 2.1</a:t>
            </a:r>
            <a:br>
              <a:rPr lang="ru-RU" sz="3800" dirty="0"/>
            </a:br>
            <a:r>
              <a:rPr lang="ru-RU" sz="3800" b="1" dirty="0" err="1"/>
              <a:t>Дашборд</a:t>
            </a:r>
            <a:r>
              <a:rPr lang="ru-RU" sz="3800" b="1" dirty="0"/>
              <a:t> для менеджера по продажам</a:t>
            </a:r>
            <a:endParaRPr lang="ru-RU" sz="3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83C688-3F64-438E-9ADE-11A01CC84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902206"/>
            <a:ext cx="5598097" cy="2240529"/>
          </a:xfrm>
        </p:spPr>
        <p:txBody>
          <a:bodyPr>
            <a:normAutofit/>
          </a:bodyPr>
          <a:lstStyle/>
          <a:p>
            <a:r>
              <a:rPr lang="ru-RU" dirty="0"/>
              <a:t>Визуализация ключевых показателей эффективности (KPI) на основе данных о продажах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13039B-BDA7-4CB6-AA00-6EC78DC3A2F7}"/>
              </a:ext>
            </a:extLst>
          </p:cNvPr>
          <p:cNvSpPr/>
          <p:nvPr/>
        </p:nvSpPr>
        <p:spPr>
          <a:xfrm>
            <a:off x="609600" y="566587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F9FAFB"/>
                </a:solidFill>
              </a:rPr>
              <a:t>Выполнила: Губченко Ангелина</a:t>
            </a:r>
            <a:br>
              <a:rPr lang="ru-RU" dirty="0"/>
            </a:br>
            <a:r>
              <a:rPr lang="ru-RU" dirty="0">
                <a:solidFill>
                  <a:srgbClr val="F9FAFB"/>
                </a:solidFill>
              </a:rPr>
              <a:t>Группа: ВО-ИСиТ-3123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8155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70282F-A1A4-4C6B-BFF6-DCA20D21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5324" y="421187"/>
            <a:ext cx="9404723" cy="1400530"/>
          </a:xfrm>
        </p:spPr>
        <p:txBody>
          <a:bodyPr/>
          <a:lstStyle/>
          <a:p>
            <a:r>
              <a:rPr lang="ru-RU" sz="2800" b="1" dirty="0"/>
              <a:t>Цели </a:t>
            </a:r>
            <a:r>
              <a:rPr lang="ru-RU" sz="2800" b="1" dirty="0" err="1"/>
              <a:t>дашборда</a:t>
            </a:r>
            <a:r>
              <a:rPr lang="ru-RU" sz="2800" b="1" dirty="0"/>
              <a:t> и ключевые показатели (KPI)</a:t>
            </a:r>
            <a:endParaRPr lang="ru-RU" sz="2000" b="1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27A1547C-D1C1-432F-8EEA-D990FB09DA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69843"/>
              </p:ext>
            </p:extLst>
          </p:nvPr>
        </p:nvGraphicFramePr>
        <p:xfrm>
          <a:off x="1345324" y="2193338"/>
          <a:ext cx="9753600" cy="4396649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251200">
                  <a:extLst>
                    <a:ext uri="{9D8B030D-6E8A-4147-A177-3AD203B41FA5}">
                      <a16:colId xmlns:a16="http://schemas.microsoft.com/office/drawing/2014/main" val="1101949157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500202357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1832767730"/>
                    </a:ext>
                  </a:extLst>
                </a:gridCol>
              </a:tblGrid>
              <a:tr h="461125"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</a:rPr>
                        <a:t>Показатель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59939" marR="79919" marT="49950" marB="499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</a:rPr>
                        <a:t>Что показывает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79919" marR="79919" marT="49950" marB="499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</a:rPr>
                        <a:t>Зачем нужен менеджеру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79919" marR="79919" marT="49950" marB="49950" anchor="ctr"/>
                </a:tc>
                <a:extLst>
                  <a:ext uri="{0D108BD9-81ED-4DB2-BD59-A6C34878D82A}">
                    <a16:rowId xmlns:a16="http://schemas.microsoft.com/office/drawing/2014/main" val="1768146373"/>
                  </a:ext>
                </a:extLst>
              </a:tr>
              <a:tr h="642225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Общая выручка (</a:t>
                      </a:r>
                      <a:r>
                        <a:rPr lang="en-US" sz="1400" b="1">
                          <a:effectLst/>
                        </a:rPr>
                        <a:t>Total Revenue)</a:t>
                      </a:r>
                      <a:endParaRPr lang="en-US" sz="1400" b="0">
                        <a:effectLst/>
                        <a:latin typeface="+mn-lt"/>
                      </a:endParaRPr>
                    </a:p>
                  </a:txBody>
                  <a:tcPr marL="59939" marR="79919" marT="49950" marB="499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Суммарный доход от всех продаж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79919" marR="79919" marT="49950" marB="499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Оценка общего объёма бизнеса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79919" marR="59939" marT="49950" marB="49950" anchor="ctr"/>
                </a:tc>
                <a:extLst>
                  <a:ext uri="{0D108BD9-81ED-4DB2-BD59-A6C34878D82A}">
                    <a16:rowId xmlns:a16="http://schemas.microsoft.com/office/drawing/2014/main" val="2538119277"/>
                  </a:ext>
                </a:extLst>
              </a:tr>
              <a:tr h="642225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Валовая прибыль (</a:t>
                      </a:r>
                      <a:r>
                        <a:rPr lang="en-US" sz="1400" b="1">
                          <a:effectLst/>
                        </a:rPr>
                        <a:t>Gross Profit)</a:t>
                      </a:r>
                      <a:endParaRPr lang="en-US" sz="1400" b="0">
                        <a:effectLst/>
                        <a:latin typeface="+mn-lt"/>
                      </a:endParaRPr>
                    </a:p>
                  </a:txBody>
                  <a:tcPr marL="59939" marR="79919" marT="49950" marB="499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Выручка минус себестоимость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79919" marR="79919" marT="49950" marB="499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Понимание реального заработка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79919" marR="59939" marT="49950" marB="49950" anchor="ctr"/>
                </a:tc>
                <a:extLst>
                  <a:ext uri="{0D108BD9-81ED-4DB2-BD59-A6C34878D82A}">
                    <a16:rowId xmlns:a16="http://schemas.microsoft.com/office/drawing/2014/main" val="4097311133"/>
                  </a:ext>
                </a:extLst>
              </a:tr>
              <a:tr h="1004424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Маржинальность (</a:t>
                      </a:r>
                      <a:r>
                        <a:rPr lang="en-US" sz="1400" b="1">
                          <a:effectLst/>
                        </a:rPr>
                        <a:t>Margin %)</a:t>
                      </a:r>
                      <a:endParaRPr lang="en-US" sz="1400" b="0">
                        <a:effectLst/>
                        <a:latin typeface="+mn-lt"/>
                      </a:endParaRPr>
                    </a:p>
                  </a:txBody>
                  <a:tcPr marL="59939" marR="79919" marT="49950" marB="499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Прибыль в процентах от выручки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79919" marR="79919" marT="49950" marB="49950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</a:rPr>
                        <a:t>Выявление товаров с низкой и высокой доходностью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79919" marR="59939" marT="49950" marB="49950" anchor="ctr"/>
                </a:tc>
                <a:extLst>
                  <a:ext uri="{0D108BD9-81ED-4DB2-BD59-A6C34878D82A}">
                    <a16:rowId xmlns:a16="http://schemas.microsoft.com/office/drawing/2014/main" val="1700657244"/>
                  </a:ext>
                </a:extLst>
              </a:tr>
              <a:tr h="823325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Средний чек (</a:t>
                      </a:r>
                      <a:r>
                        <a:rPr lang="en-US" sz="1400" b="1">
                          <a:effectLst/>
                        </a:rPr>
                        <a:t>Avg Transaction Value)</a:t>
                      </a:r>
                      <a:endParaRPr lang="en-US" sz="1400" b="0">
                        <a:effectLst/>
                        <a:latin typeface="+mn-lt"/>
                      </a:endParaRPr>
                    </a:p>
                  </a:txBody>
                  <a:tcPr marL="59939" marR="79919" marT="49950" marB="499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Выручка / количество транзакций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79919" marR="79919" marT="49950" marB="499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Оценка покупательской способности клиентов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79919" marR="59939" marT="49950" marB="49950" anchor="ctr"/>
                </a:tc>
                <a:extLst>
                  <a:ext uri="{0D108BD9-81ED-4DB2-BD59-A6C34878D82A}">
                    <a16:rowId xmlns:a16="http://schemas.microsoft.com/office/drawing/2014/main" val="789619455"/>
                  </a:ext>
                </a:extLst>
              </a:tr>
              <a:tr h="823325">
                <a:tc>
                  <a:txBody>
                    <a:bodyPr/>
                    <a:lstStyle/>
                    <a:p>
                      <a:r>
                        <a:rPr lang="ru-RU" sz="1400" b="1">
                          <a:effectLst/>
                        </a:rPr>
                        <a:t>Количество транзакций (</a:t>
                      </a:r>
                      <a:r>
                        <a:rPr lang="en-US" sz="1400" b="1">
                          <a:effectLst/>
                        </a:rPr>
                        <a:t>Transaction Count)</a:t>
                      </a:r>
                      <a:endParaRPr lang="en-US" sz="1400" b="0">
                        <a:effectLst/>
                        <a:latin typeface="+mn-lt"/>
                      </a:endParaRPr>
                    </a:p>
                  </a:txBody>
                  <a:tcPr marL="59939" marR="79919" marT="49950" marB="49950" anchor="ctr"/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</a:rPr>
                        <a:t>Общее число продаж</a:t>
                      </a:r>
                      <a:endParaRPr lang="ru-RU" sz="1400" b="0">
                        <a:effectLst/>
                        <a:latin typeface="+mn-lt"/>
                      </a:endParaRPr>
                    </a:p>
                  </a:txBody>
                  <a:tcPr marL="79919" marR="79919" marT="49950" marB="49950" anchor="ctr"/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</a:rPr>
                        <a:t>Измерение активности продаж</a:t>
                      </a:r>
                      <a:endParaRPr lang="ru-RU" sz="1400" b="0" dirty="0">
                        <a:effectLst/>
                        <a:latin typeface="+mn-lt"/>
                      </a:endParaRPr>
                    </a:p>
                  </a:txBody>
                  <a:tcPr marL="79919" marR="59939" marT="49950" marB="49950" anchor="ctr"/>
                </a:tc>
                <a:extLst>
                  <a:ext uri="{0D108BD9-81ED-4DB2-BD59-A6C34878D82A}">
                    <a16:rowId xmlns:a16="http://schemas.microsoft.com/office/drawing/2014/main" val="3736890625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4C39E33-8777-4F47-9753-62391671E0A0}"/>
              </a:ext>
            </a:extLst>
          </p:cNvPr>
          <p:cNvSpPr/>
          <p:nvPr/>
        </p:nvSpPr>
        <p:spPr>
          <a:xfrm>
            <a:off x="1345324" y="1121452"/>
            <a:ext cx="84713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F9FAFB"/>
                </a:solidFill>
              </a:rPr>
              <a:t>Цель </a:t>
            </a:r>
            <a:r>
              <a:rPr lang="ru-RU" sz="1600" b="1" dirty="0" err="1">
                <a:solidFill>
                  <a:srgbClr val="F9FAFB"/>
                </a:solidFill>
              </a:rPr>
              <a:t>дашборда</a:t>
            </a:r>
            <a:r>
              <a:rPr lang="ru-RU" sz="1600" b="1" dirty="0">
                <a:solidFill>
                  <a:srgbClr val="F9FAFB"/>
                </a:solidFill>
              </a:rPr>
              <a:t>: </a:t>
            </a:r>
            <a:r>
              <a:rPr lang="ru-RU" sz="1600" dirty="0">
                <a:solidFill>
                  <a:srgbClr val="F9FAFB"/>
                </a:solidFill>
              </a:rPr>
              <a:t>Предоставить менеджеру по продажам наглядную и интерактивную картину для мониторинга эффективности продаж, выявления трендов и проблемных зон.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186462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2A889-8F33-4951-BEC7-A91F1E95D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691" y="358302"/>
            <a:ext cx="9404723" cy="682399"/>
          </a:xfrm>
        </p:spPr>
        <p:txBody>
          <a:bodyPr/>
          <a:lstStyle/>
          <a:p>
            <a:r>
              <a:rPr lang="ru-RU" sz="2800" b="1" dirty="0" err="1"/>
              <a:t>Дашборд</a:t>
            </a:r>
            <a:r>
              <a:rPr lang="ru-RU" sz="2800" b="1" dirty="0"/>
              <a:t> менеджера по продажам (</a:t>
            </a:r>
            <a:r>
              <a:rPr lang="ru-RU" sz="2800" b="1" dirty="0" err="1"/>
              <a:t>Power</a:t>
            </a:r>
            <a:r>
              <a:rPr lang="ru-RU" sz="2800" b="1" dirty="0"/>
              <a:t> BI)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057C298-4173-49CD-8DFA-95B1E896EF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082" y="1189181"/>
            <a:ext cx="9655836" cy="540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52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EB740F-E4E8-4589-8799-CC02D5C4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800" dirty="0"/>
              <a:t>Анализ данных и рекомендации для менеджера по продажам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11290D-012D-47E1-9E13-C3C9409D1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74238"/>
            <a:ext cx="10654241" cy="5141166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ru-RU" dirty="0"/>
              <a:t>1. Общая эффективность продаж</a:t>
            </a:r>
          </a:p>
          <a:p>
            <a:pPr marL="0" indent="0" algn="just">
              <a:buNone/>
            </a:pPr>
            <a:r>
              <a:rPr lang="ru-RU" dirty="0"/>
              <a:t>За весь период общая выручка составила 208 тыс. рублей, валовая прибыль — 36,23 тыс. рублей, а маржинальность — всего 17%. Это означает, что с каждого рубля выручки компания получает лишь 17 копеек прибыли, что является низким показателем и требует внимания.</a:t>
            </a:r>
          </a:p>
          <a:p>
            <a:pPr algn="just"/>
            <a:r>
              <a:rPr lang="ru-RU" dirty="0"/>
              <a:t>2. Анализ способов оплаты</a:t>
            </a:r>
          </a:p>
          <a:p>
            <a:pPr marL="0" indent="0" algn="just">
              <a:buNone/>
            </a:pPr>
            <a:r>
              <a:rPr lang="ru-RU" dirty="0"/>
              <a:t>Количество транзакций распределилось почти поровну: 141 транзакция (49,82%) оплачена наличными и 142 транзакции (50,18%) — онлайн. Это говорит о том, что оба канала платежей одинаково востребованы клиентами.</a:t>
            </a:r>
          </a:p>
          <a:p>
            <a:pPr algn="just"/>
            <a:r>
              <a:rPr lang="ru-RU" dirty="0"/>
              <a:t>3. Сезонность и пики продаж</a:t>
            </a:r>
          </a:p>
          <a:p>
            <a:pPr marL="0" indent="0" algn="just">
              <a:buNone/>
            </a:pPr>
            <a:r>
              <a:rPr lang="ru-RU" dirty="0"/>
              <a:t>Пик продаж пришёлся на месяц Январь, в этот месяц было совершено 38 транзакций.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Рекомендация №1 — повышение маржинальности</a:t>
            </a:r>
          </a:p>
          <a:p>
            <a:pPr marL="0" indent="0" algn="just">
              <a:buNone/>
            </a:pPr>
            <a:r>
              <a:rPr lang="ru-RU" dirty="0"/>
              <a:t>Проанализировать проблемные товары: пересмотреть закупочные цены, повысить продажную цену или ограничить скидки на них. Даже небольшое увеличение маржи на 5–10% может существенно повлиять на общую прибыль.</a:t>
            </a:r>
          </a:p>
          <a:p>
            <a:pPr algn="just"/>
            <a:r>
              <a:rPr lang="ru-RU" dirty="0"/>
              <a:t>Рекомендация №2 — стимулирование онлайн-платежей</a:t>
            </a:r>
          </a:p>
          <a:p>
            <a:pPr marL="0" indent="0" algn="just">
              <a:buNone/>
            </a:pPr>
            <a:r>
              <a:rPr lang="ru-RU" dirty="0"/>
              <a:t>Поскольку доля онлайн-платежей уже высока (50,18%), имеет смысл предложить небольшую скидку (например, 3–5%) при оплате онлайн. Это может увеличить их долю до 60% и улучшить клиентский опыт.</a:t>
            </a:r>
          </a:p>
          <a:p>
            <a:pPr algn="just"/>
            <a:endParaRPr lang="ru-RU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7275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Другая 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54A838"/>
      </a:accent1>
      <a:accent2>
        <a:srgbClr val="54A838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</TotalTime>
  <Words>343</Words>
  <Application>Microsoft Office PowerPoint</Application>
  <PresentationFormat>Широкоэкранный</PresentationFormat>
  <Paragraphs>36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Ион</vt:lpstr>
      <vt:lpstr>Лабораторная работа 2.1 Дашборд для менеджера по продажам</vt:lpstr>
      <vt:lpstr>Цели дашборда и ключевые показатели (KPI)</vt:lpstr>
      <vt:lpstr>Дашборд менеджера по продажам (Power BI)</vt:lpstr>
      <vt:lpstr>Анализ данных и рекомендации для менеджера по продажам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2.1 Дашборд для менеджера по продажам</dc:title>
  <dc:creator>Лина Губченко</dc:creator>
  <cp:lastModifiedBy>Лина Губченко</cp:lastModifiedBy>
  <cp:revision>1</cp:revision>
  <dcterms:created xsi:type="dcterms:W3CDTF">2026-05-01T21:41:23Z</dcterms:created>
  <dcterms:modified xsi:type="dcterms:W3CDTF">2026-05-01T22:06:37Z</dcterms:modified>
</cp:coreProperties>
</file>